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097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199339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Control Plane for Decisive, Agentic IT Operations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11480" y="2578608"/>
            <a:ext cx="3657600" cy="22860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Fragmented Signals to Unified Resilience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4736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Confidential  |  IBM Hong Kong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21792"/>
            <a:ext cx="1097280" cy="36576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04672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04672"/>
            <a:ext cx="2633472" cy="548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93268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12064" y="135331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" y="1737360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IT operations must evolve now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45536" y="804672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45536" y="804672"/>
            <a:ext cx="2633472" cy="548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93268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10128" y="135331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 Overview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1737360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Understand, Decide, Act framework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804672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804672"/>
            <a:ext cx="2633472" cy="548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93268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08192" y="135331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Capabilities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08192" y="1737360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Observe · Optimize · Protect · Operate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2542032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" y="2542032"/>
            <a:ext cx="2633472" cy="548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267004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12064" y="309067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Outcomes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" y="3474720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ROI metrics &amp; proven KPIs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45536" y="2542032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45536" y="2542032"/>
            <a:ext cx="2633472" cy="548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267004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310128" y="309067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IBM?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10128" y="3474720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Differentiators vs the competition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2542032"/>
            <a:ext cx="2633472" cy="157276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2542032"/>
            <a:ext cx="2633472" cy="548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267004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108192" y="3090672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08192" y="3474720"/>
            <a:ext cx="23042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 trial · POC · Contact IBM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69180"/>
            <a:ext cx="9144000" cy="1829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71009"/>
            <a:ext cx="9144000" cy="2724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Challenge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21792"/>
            <a:ext cx="1463040" cy="36576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315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Complexity is outpacing traditional IT operations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2395728" cy="1152144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188720"/>
            <a:ext cx="2395728" cy="548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12984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57784" y="18105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orgs will struggle managing AI-driven complexity by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90088" y="1188720"/>
            <a:ext cx="2395728" cy="1152144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0088" y="1188720"/>
            <a:ext cx="2395728" cy="548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2984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$300K+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136392" y="18105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 hour lost by 90% of enterprises during outages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68696" y="1188720"/>
            <a:ext cx="2395728" cy="1152144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68696" y="1188720"/>
            <a:ext cx="2395728" cy="548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12984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15000" y="18105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organizations hit by outages due to fragmented operations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25054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 Pain Points: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" y="2980944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834640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 many alerts, not enough context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438144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291840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Slow root cause analysis across tools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895344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" y="3749040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Teams working in silos, fragmented data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4352544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" y="4206240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Growing complexity from AI &amp; hybrid cloud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2980944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2834640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Lengthy incident response &amp; remediation cycles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17720" y="3438144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2312" y="3291840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Vulnerabilities accumulating faster than teams can fix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3895344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3749040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Rising cloud costs with limited optimization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4352544"/>
            <a:ext cx="73152" cy="73152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2312" y="4206240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Reactive operations instead of proactive prevention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69180"/>
            <a:ext cx="9144000" cy="1829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871009"/>
            <a:ext cx="9144000" cy="2724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control plane for decisive, AI-driven operations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1463040" cy="22860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15568"/>
            <a:ext cx="2633472" cy="3182112"/>
          </a:xfrm>
          <a:prstGeom prst="rect">
            <a:avLst/>
          </a:prstGeom>
          <a:solidFill>
            <a:srgbClr val="0F4EC4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24358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" y="1554480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Contextualised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7512" y="2249424"/>
            <a:ext cx="2304288" cy="1828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2523744"/>
            <a:ext cx="64008" cy="6400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2359152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Federated GraphQL data access layer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" y="2999232"/>
            <a:ext cx="64008" cy="6400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" y="2834640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Full-stack observability with Instana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" y="3474720"/>
            <a:ext cx="64008" cy="6400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" y="3310128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Entity matching &amp; relationship traversal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950208"/>
            <a:ext cx="64008" cy="6400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" y="3785616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&amp; LLM observability built-in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00984" y="1115568"/>
            <a:ext cx="2633472" cy="3182112"/>
          </a:xfrm>
          <a:prstGeom prst="rect">
            <a:avLst/>
          </a:prstGeom>
          <a:solidFill>
            <a:srgbClr val="0F4EC4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65576" y="124358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65576" y="1554480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Multi-Layer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Framework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465576" y="2249424"/>
            <a:ext cx="2304288" cy="1828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65576" y="2523744"/>
            <a:ext cx="64008" cy="6400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2359152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AI-driven, business-aware risk scoring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65576" y="2999232"/>
            <a:ext cx="64008" cy="6400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2834640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Blast-radius correlation across layers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65576" y="3474720"/>
            <a:ext cx="64008" cy="6400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3310128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Resilience posture scoring &amp; assessment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65576" y="3950208"/>
            <a:ext cx="64008" cy="6400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11880" y="3785616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Concert Assistant for guided remediation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99048" y="1115568"/>
            <a:ext cx="2633472" cy="3182112"/>
          </a:xfrm>
          <a:prstGeom prst="rect">
            <a:avLst/>
          </a:prstGeom>
          <a:solidFill>
            <a:srgbClr val="0F4EC4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124358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63640" y="1554480"/>
            <a:ext cx="23042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Coordinated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Execution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63640" y="2249424"/>
            <a:ext cx="2304288" cy="1828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2523744"/>
            <a:ext cx="64008" cy="6400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9944" y="2359152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Low-code workflow orchestration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63640" y="2999232"/>
            <a:ext cx="64008" cy="6400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9944" y="2834640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Integrates ServiceNow, Jira, GitHub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3474720"/>
            <a:ext cx="64008" cy="6400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9944" y="3310128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Automated resource optimisation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63640" y="3950208"/>
            <a:ext cx="64008" cy="64008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9944" y="3785616"/>
            <a:ext cx="2157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Fix vulnerabilities at point of creation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69180"/>
            <a:ext cx="9144000" cy="1829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4871009"/>
            <a:ext cx="9144000" cy="272491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Capabilities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21792"/>
            <a:ext cx="1645920" cy="36576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768096"/>
            <a:ext cx="2633472" cy="1828800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768096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886968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Concert Observe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124358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Powered by Instana &amp; SevOne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3776" y="1517904"/>
            <a:ext cx="2340864" cy="18288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591056"/>
            <a:ext cx="2340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Full-stack observability to detect issues and improve reliability. AI agent &amp; LLM observability, synthetic monitoring, infrastructure observability.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3776" y="2322576"/>
            <a:ext cx="2340864" cy="219456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2322576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50% MTTD reduction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45536" y="768096"/>
            <a:ext cx="2633472" cy="1828800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45536" y="768096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886968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Concert Optimize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124358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Powered by Turbonomic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1517904"/>
            <a:ext cx="2340864" cy="18288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591056"/>
            <a:ext cx="2340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Continuously optimize resources across hybrid environments. Kubernetes, cloud, and AI workload optimization with automated right-sizing.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2322576"/>
            <a:ext cx="2340864" cy="219456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2322576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247% ROI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0" y="768096"/>
            <a:ext cx="2633472" cy="1828800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768096"/>
            <a:ext cx="2633472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9904" y="886968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Concert Protect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89904" y="1243584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Powered by Security Intelligence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89904" y="1517904"/>
            <a:ext cx="2340864" cy="18288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9904" y="1591056"/>
            <a:ext cx="23408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Identify, prioritize, and fix exposures across your full SDLC. AI-driven risk scoring with blast-radius correlation and Secure Coder.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9904" y="2322576"/>
            <a:ext cx="2340864" cy="219456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9904" y="2322576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78% patching cost reduction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" y="2743200"/>
            <a:ext cx="3977640" cy="1920240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2743200"/>
            <a:ext cx="3977640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" y="2862072"/>
            <a:ext cx="3685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Concert Operate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" y="321868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Powered by Cloud Pak for AIOps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" y="3493008"/>
            <a:ext cx="3685032" cy="18288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" y="3566160"/>
            <a:ext cx="3685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operations visibility. Automate event correlation, incident management, and cross-team coordination. Break down tool silos with a single pane of glass.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3776" y="4169664"/>
            <a:ext cx="3685032" cy="23774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" y="416966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66% reduction in MTTD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89704" y="2743200"/>
            <a:ext cx="3977640" cy="1920240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89704" y="2743200"/>
            <a:ext cx="3977640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36008" y="2862072"/>
            <a:ext cx="3685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Concert Resilience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636008" y="321868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Platform-wide Resilience Posture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36008" y="3493008"/>
            <a:ext cx="3685032" cy="18288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36008" y="3566160"/>
            <a:ext cx="3685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Collect and score resilience data, identify weaknesses before outages occur, and standardize resilience measurement across teams.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36008" y="4169664"/>
            <a:ext cx="3685032" cy="23774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36008" y="416966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62% faster resilience assessments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869180"/>
            <a:ext cx="9144000" cy="1829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4871009"/>
            <a:ext cx="9144000" cy="2724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Outcomes &amp; ROI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21792"/>
            <a:ext cx="2011680" cy="36576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04672"/>
            <a:ext cx="1591056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804672"/>
            <a:ext cx="1591056" cy="548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89611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247%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21208" y="146304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ROI with Concert Optimize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48840" y="804672"/>
            <a:ext cx="1591056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8840" y="804672"/>
            <a:ext cx="1591056" cy="548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58568" y="89611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258568" y="146304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Reduction in MTTD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86200" y="804672"/>
            <a:ext cx="1591056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86200" y="804672"/>
            <a:ext cx="1591056" cy="548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95928" y="89611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995928" y="146304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Reduction in MTTR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23560" y="804672"/>
            <a:ext cx="1591056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23560" y="804672"/>
            <a:ext cx="1591056" cy="548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33288" y="89611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78%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733288" y="146304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Patching cost reduction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60920" y="804672"/>
            <a:ext cx="1591056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60920" y="804672"/>
            <a:ext cx="1591056" cy="548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70648" y="89611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10x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470648" y="146304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 vulnerability fixes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47472" y="2322576"/>
            <a:ext cx="263347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2322576"/>
            <a:ext cx="2633472" cy="548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243230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Operational Resilience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" y="2816352"/>
            <a:ext cx="2340864" cy="18288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" y="3017520"/>
            <a:ext cx="64008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28895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62% faster resilience assessments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3776" y="3438144"/>
            <a:ext cx="64008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3101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99% noise reduction on monthly events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3776" y="3858768"/>
            <a:ext cx="64008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730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65% reduction in incident response time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3776" y="4279392"/>
            <a:ext cx="64008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41513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Proactive outage prevention with posture scoring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145536" y="2322576"/>
            <a:ext cx="263347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45536" y="2322576"/>
            <a:ext cx="2633472" cy="548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243230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Cost &amp; Efficiency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291840" y="2816352"/>
            <a:ext cx="2340864" cy="18288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0" y="3017520"/>
            <a:ext cx="64008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38144" y="28895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35% improvement in cloud investment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91840" y="3438144"/>
            <a:ext cx="64008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38144" y="33101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30% engineering time returned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91840" y="3858768"/>
            <a:ext cx="64008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38144" y="3730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20,000+ hours saved annually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91840" y="4279392"/>
            <a:ext cx="64008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38144" y="41513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471% ROI and $13.16M NPV over 3 years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943600" y="2322576"/>
            <a:ext cx="263347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2322576"/>
            <a:ext cx="2633472" cy="54864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89904" y="2432304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 &amp; Risk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089904" y="2816352"/>
            <a:ext cx="2340864" cy="18288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89904" y="3017520"/>
            <a:ext cx="64008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36208" y="28895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78% patching cost reduction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089904" y="3438144"/>
            <a:ext cx="64008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36208" y="33101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10x faster vulnerability remediation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089904" y="3858768"/>
            <a:ext cx="64008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36208" y="373075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18x remediation time reduction (Deutsche Telekom)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089904" y="4279392"/>
            <a:ext cx="64008" cy="6400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36208" y="41513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AI-driven risk prioritisation at scale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0" y="4869180"/>
            <a:ext cx="9144000" cy="1829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0" y="4871009"/>
            <a:ext cx="9144000" cy="2724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IBM Concert?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621792"/>
            <a:ext cx="1645920" cy="36576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786384"/>
            <a:ext cx="3931920" cy="859536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786384"/>
            <a:ext cx="54864" cy="859536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859536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Control Plane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1133856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platform to Understand, Decide, and Act — no rip-and-replace, works with your existing tools.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3931920" cy="859536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755648"/>
            <a:ext cx="54864" cy="859536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828800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Hybrid Cloud Ready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" y="2103120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On-premises deployment available. Works across cloud, on-prem, and air-gapped environments unlike SaaS-only competitors.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724912"/>
            <a:ext cx="3931920" cy="859536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724912"/>
            <a:ext cx="54864" cy="859536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798064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AI-Powered from the Core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" y="3072384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Business-aware risk scoring, agentic remediation, and Concert Assistant AI — not bolted-on observability.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694176"/>
            <a:ext cx="3931920" cy="859536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694176"/>
            <a:ext cx="54864" cy="859536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376732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Proven Enterprise Scale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" y="4041648"/>
            <a:ext cx="3621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Rated #1 globally (G2 Grid), IBM Instana Summer 2026. IBM SevOne named leader across multiple categories.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786384"/>
            <a:ext cx="4297680" cy="384048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54296" y="78638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16168" y="78638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47688" y="78638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Dynatrace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79208" y="78638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Datadog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78638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ServiceNow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1170432"/>
            <a:ext cx="4297680" cy="38404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54296" y="1170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Hybrid On-Prem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16168" y="117043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47688" y="117043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379208" y="117043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10728" y="117043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1554480"/>
            <a:ext cx="4297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54296" y="1554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Risk Scoring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16168" y="155448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47688" y="155448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Partial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79208" y="155448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110728" y="155448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17720" y="1938528"/>
            <a:ext cx="4297680" cy="38404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54296" y="19385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Unified Control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16168" y="193852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47688" y="193852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79208" y="193852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110728" y="193852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Partial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17720" y="2322576"/>
            <a:ext cx="4297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54296" y="23225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Rip-Replace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16168" y="2322576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47688" y="2322576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9208" y="2322576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110728" y="2322576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Partial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17720" y="2706624"/>
            <a:ext cx="4297680" cy="38404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54296" y="27066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 Trial 30d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916168" y="270662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647688" y="270662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379208" y="270662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110728" y="270662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17720" y="3090672"/>
            <a:ext cx="4297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54296" y="30906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Agentic Ops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16168" y="309067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647688" y="309067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Partial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379208" y="309067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Partial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110728" y="309067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17720" y="3474720"/>
            <a:ext cx="4297680" cy="384048"/>
          </a:xfrm>
          <a:prstGeom prst="rect">
            <a:avLst/>
          </a:prstGeom>
          <a:solidFill>
            <a:srgbClr val="F1F4F7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54296" y="34747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Blast Radius AI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916168" y="347472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61F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✓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647688" y="347472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Partial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379208" y="347472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110728" y="3474720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✗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0" y="4869180"/>
            <a:ext cx="9144000" cy="1829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0" y="4871009"/>
            <a:ext cx="9144000" cy="272491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65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Take the Next Step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focused 30–60 day path from interest to measurable outcome.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60704"/>
            <a:ext cx="1463040" cy="22860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43584"/>
            <a:ext cx="2633472" cy="2651760"/>
          </a:xfrm>
          <a:prstGeom prst="rect">
            <a:avLst/>
          </a:prstGeom>
          <a:solidFill>
            <a:srgbClr val="0F4EC4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389888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67512" y="2139696"/>
            <a:ext cx="2304288" cy="22860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231136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Identify Your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 Case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" y="2962656"/>
            <a:ext cx="23042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does the pain hit hardest — observability, performance &amp; cost, security risk, or resilience? Determine where to start.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00984" y="1243584"/>
            <a:ext cx="2633472" cy="2651760"/>
          </a:xfrm>
          <a:prstGeom prst="rect">
            <a:avLst/>
          </a:prstGeom>
          <a:solidFill>
            <a:srgbClr val="0F4EC4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5576" y="1389888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3465576" y="2139696"/>
            <a:ext cx="2304288" cy="22860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65576" y="2231136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a Focused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65576" y="2962656"/>
            <a:ext cx="23042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30–60 day proof in your highest-priority domain. Measurable outcomes tied to your environment and existing tools.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99048" y="1243584"/>
            <a:ext cx="2633472" cy="2651760"/>
          </a:xfrm>
          <a:prstGeom prst="rect">
            <a:avLst/>
          </a:prstGeom>
          <a:solidFill>
            <a:srgbClr val="0F4EC4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389888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6263640" y="2139696"/>
            <a:ext cx="2304288" cy="22860"/>
          </a:xfrm>
          <a:prstGeom prst="rect">
            <a:avLst/>
          </a:prstGeom>
          <a:solidFill>
            <a:srgbClr val="D0E4FF"/>
          </a:solidFill>
          <a:ln w="12700">
            <a:solidFill>
              <a:srgbClr val="D0E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2231136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the</a:t>
            </a:r>
            <a:endParaRPr lang="en-US" sz="1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Rollout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2962656"/>
            <a:ext cx="23042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Connect to your existing stack — no rip-and-replace. Phased expansion across additional domains.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0782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ibm.com/concert  |  Request a Demo  |  Start Free Trial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69180"/>
            <a:ext cx="9144000" cy="1829"/>
          </a:xfrm>
          <a:prstGeom prst="rect">
            <a:avLst/>
          </a:prstGeom>
          <a:solidFill>
            <a:srgbClr val="C1C7CD"/>
          </a:solidFill>
          <a:ln w="12700">
            <a:solidFill>
              <a:srgbClr val="C1C7C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871009"/>
            <a:ext cx="9144000" cy="272491"/>
          </a:xfrm>
          <a:prstGeom prst="rect">
            <a:avLst/>
          </a:prstGeom>
          <a:solidFill>
            <a:srgbClr val="1261FD"/>
          </a:solidFill>
          <a:ln w="12700">
            <a:solidFill>
              <a:srgbClr val="1261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4873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Concert Platform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4873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0E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2026-08-13T09:20:03Z</dcterms:created>
  <dcterms:modified xsi:type="dcterms:W3CDTF">2026-08-13T09:20:03Z</dcterms:modified>
</cp:coreProperties>
</file>