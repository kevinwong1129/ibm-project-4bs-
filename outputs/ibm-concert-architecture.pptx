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8138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Architecture — Layers, Agents &amp; Integrations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706624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deep-dive into the layered architecture powering unified,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IT operations across hybrid cloud environments.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 |  IBM Hong Kong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2296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6926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" y="138988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in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77393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 layered platform matters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45536" y="82296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45536" y="82296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6926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138988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77393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Four-layer technical overview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82296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82296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96926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89904" y="138988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&amp; Integration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9904" y="177393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Federated GraphQL data access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56032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56032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70662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" y="312724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&amp; Agentic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" y="351129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Multi-level AI orchestration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45536" y="256032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45536" y="256032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70662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91840" y="312724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 Models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51129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SaaS, On-Prem, Hybrid Cloud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56032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56032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270662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089904" y="312724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9904" y="351129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 trial, demo, IBM HK sales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 —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in Context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Concert platform needs a unified, layered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2487168" cy="219456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07008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75488" y="2084832"/>
            <a:ext cx="22311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IT leaders say existing tools create fragmented silos that delay response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962656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Institute for Business Value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80944" y="1078992"/>
            <a:ext cx="5815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 Unified Architecture?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80944" y="1499616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Data scattered across tools with no unified layer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80944" y="1975104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AI insights siloed — no cross-domain correlation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80944" y="2450592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Manual stitching of events, alerts, and workflows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80944" y="2926080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No shared identity or context across products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80944" y="3401568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Repeated data ingestion per tool — costly overhead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80944" y="3877056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Slow time to value without a common platform 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 — Architecture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 —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layers working together: Integrate → Store → Decide → 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8449056" cy="822960"/>
          </a:xfrm>
          <a:prstGeom prst="rect">
            <a:avLst/>
          </a:prstGeom>
          <a:solidFill>
            <a:srgbClr val="0F5FD8"/>
          </a:solidFill>
          <a:ln w="12700">
            <a:solidFill>
              <a:srgbClr val="D0E4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97280"/>
            <a:ext cx="2249424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0432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VISUALISATION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" y="1481328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Experience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96896" y="12710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2710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Homepage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13632" y="12710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12710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Dashboards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30368" y="12710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2710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Contextual UI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47104" y="12710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2710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Data Apps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2011680"/>
            <a:ext cx="8449056" cy="822960"/>
          </a:xfrm>
          <a:prstGeom prst="rect">
            <a:avLst/>
          </a:prstGeom>
          <a:solidFill>
            <a:srgbClr val="1A4FC4"/>
          </a:solidFill>
          <a:ln w="12700">
            <a:solidFill>
              <a:srgbClr val="D0E4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011680"/>
            <a:ext cx="2249424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084832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&amp; AGENTS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" y="2395728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Intelligence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96896" y="21854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96896" y="21854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AI Assistant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13632" y="21854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21854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Coordinator Agent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30368" y="21854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21854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 Agents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47104" y="21854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854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Vector Database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2926080"/>
            <a:ext cx="8449056" cy="822960"/>
          </a:xfrm>
          <a:prstGeom prst="rect">
            <a:avLst/>
          </a:prstGeom>
          <a:solidFill>
            <a:srgbClr val="1261FD"/>
          </a:solidFill>
          <a:ln w="12700">
            <a:solidFill>
              <a:srgbClr val="D0E4F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2926080"/>
            <a:ext cx="2249424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2999232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ACCESS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" y="3310128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Federated GraphQL Layer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96896" y="30998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96896" y="30998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GraphQL API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913632" y="30998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30998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Entity Matching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30368" y="30998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0998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Relationship Graph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47104" y="30998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47104" y="30998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Data Model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7472" y="3840480"/>
            <a:ext cx="8449056" cy="822960"/>
          </a:xfrm>
          <a:prstGeom prst="rect">
            <a:avLst/>
          </a:prstGeom>
          <a:solidFill>
            <a:srgbClr val="0A3DB5"/>
          </a:solidFill>
          <a:ln w="12700">
            <a:solidFill>
              <a:srgbClr val="D0E4F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" y="3840480"/>
            <a:ext cx="2249424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913632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INGESTION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3776" y="4224528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&amp; Collection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96896" y="40142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96896" y="40142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Instana / SevOne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913632" y="40142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3632" y="40142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Turbonomic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230368" y="40142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30368" y="40142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AIOps / Concert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547104" y="4014216"/>
            <a:ext cx="1225296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47104" y="4014216"/>
            <a:ext cx="1225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160+ Connectors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47472" y="4462272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← Data flows upward through layers  ·  Actions flow downward →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 — Architecture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&amp; Integration Layer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Concert platform connects and unifies data from every 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1078992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INTEGRATIONS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444752"/>
            <a:ext cx="3858768" cy="512064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44752"/>
            <a:ext cx="36576" cy="5120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961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 &amp; Monitoring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Instana (APM), SevOne (Network), Prometheus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29968"/>
            <a:ext cx="3858768" cy="512064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29968"/>
            <a:ext cx="36576" cy="5120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84832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Optimization &amp; Cloud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32257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Turbonomic, AWS EC2, OpenShift, Kubernetes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615184"/>
            <a:ext cx="3858768" cy="512064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615184"/>
            <a:ext cx="36576" cy="5120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70048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&amp; Compliance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Protect, Vulnerability scanners, CSPM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200400"/>
            <a:ext cx="3858768" cy="512064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200400"/>
            <a:ext cx="36576" cy="5120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55264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ITSM &amp; Workflows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ServiceNow, Jira, PagerDuty, Slack, 160+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785616"/>
            <a:ext cx="3858768" cy="512064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785616"/>
            <a:ext cx="36576" cy="5120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0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DevOps &amp; IaC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078224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GitHub, Jenkins, Terraform, ArgoCD, Ansible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35424" y="1078992"/>
            <a:ext cx="4261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ACCESS LAYER (DAL)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35424" y="1444752"/>
            <a:ext cx="4261104" cy="91440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35424" y="1444752"/>
            <a:ext cx="4261104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55448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Federated GraphQL API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1883664"/>
            <a:ext cx="4005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Real-time, federated GraphQL foundation unifying data across all capabilities. Humans and agents query the same model.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35424" y="2468880"/>
            <a:ext cx="4261104" cy="91440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5424" y="2468880"/>
            <a:ext cx="4261104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578608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Entity Data Model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2907792"/>
            <a:ext cx="4005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model for entities and signals. Enables consistent discovery, correlation, and traversal — removing fragmentation.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35424" y="3493008"/>
            <a:ext cx="4261104" cy="91440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35424" y="3493008"/>
            <a:ext cx="4261104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60273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Entity Matching &amp; Relationships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3931920"/>
            <a:ext cx="4005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 connect metadata and data across products. Correlated data flows to consuming apps and AI agents via graph traversal.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 — Architecture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&amp; Agentic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Multi-level AI orchestration powering decisive, automated operations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3968496" cy="87782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AI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Single interface for questions, insights, and actions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700784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Synthesises expertise across all operational domains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7400" y="1984248"/>
            <a:ext cx="548640" cy="36576"/>
          </a:xfrm>
          <a:prstGeom prst="rect">
            <a:avLst/>
          </a:prstGeom>
          <a:solidFill>
            <a:srgbClr val="565656"/>
          </a:solidFill>
          <a:ln w="12700">
            <a:solidFill>
              <a:srgbClr val="5656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048256"/>
            <a:ext cx="3968496" cy="877824"/>
          </a:xfrm>
          <a:prstGeom prst="rect">
            <a:avLst/>
          </a:prstGeom>
          <a:solidFill>
            <a:srgbClr val="0F4FC8"/>
          </a:solidFill>
          <a:ln w="12700">
            <a:solidFill>
              <a:srgbClr val="0F4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57984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COORDINATOR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414016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Selects and sequences capability agents dynamically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670048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Maintains cross-domain context · coordinates execution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57400" y="2953512"/>
            <a:ext cx="548640" cy="36576"/>
          </a:xfrm>
          <a:prstGeom prst="rect">
            <a:avLst/>
          </a:prstGeom>
          <a:solidFill>
            <a:srgbClr val="565656"/>
          </a:solidFill>
          <a:ln w="12700">
            <a:solidFill>
              <a:srgbClr val="5656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017520"/>
            <a:ext cx="3968496" cy="877824"/>
          </a:xfrm>
          <a:prstGeom prst="rect">
            <a:avLst/>
          </a:prstGeom>
          <a:solidFill>
            <a:srgbClr val="0A3DB5"/>
          </a:solidFill>
          <a:ln w="12700">
            <a:solidFill>
              <a:srgbClr val="0A3D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127248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 AGENTS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383280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Observe · Optimize · Protect · Resilience · Operate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639312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Investigation, prioritisation, and execution per domain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80560" y="1133856"/>
            <a:ext cx="54864" cy="25603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078992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Root Cause First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45152" y="1444752"/>
            <a:ext cx="4151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identifies root cause deterministically before invoking LLMs — reducing hallucination risk and token costs.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2066544"/>
            <a:ext cx="54864" cy="25603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2011680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Multi-Level AI Orchestration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45152" y="2377440"/>
            <a:ext cx="4151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Swarm architecture: agents collaborate, escalate, and resolve across observability, security, and network domains.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80560" y="2999232"/>
            <a:ext cx="54864" cy="25603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2944368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Agent — Creates PRs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45152" y="3310128"/>
            <a:ext cx="4151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Research-powered coding agent identifies root cause and generates pull requests — without exporting your 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3931920"/>
            <a:ext cx="54864" cy="25603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877056"/>
            <a:ext cx="4151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Vector Database Context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45152" y="4242816"/>
            <a:ext cx="4151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Rich semantic context enhances agent requests with environment knowledge for accurate, grounded recommendations.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 — Architecture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 Models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platform runs where you need it — SaaS, on-premises, or both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60704"/>
            <a:ext cx="2633472" cy="292608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60704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18872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" y="1536192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Cloud — SaaS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" y="1883664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Fully managed, zero-ops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" y="2176272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24942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IBM-managed infrastructure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" y="2688336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Instant provisioning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" y="3127248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Monthly release cadence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" y="3566160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30-day free trial available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00984" y="1060704"/>
            <a:ext cx="2633472" cy="292608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00984" y="1060704"/>
            <a:ext cx="2633472" cy="64008"/>
          </a:xfrm>
          <a:prstGeom prst="rect">
            <a:avLst/>
          </a:prstGeom>
          <a:solidFill>
            <a:srgbClr val="0A3DB5"/>
          </a:solidFill>
          <a:ln w="12700">
            <a:solidFill>
              <a:srgbClr val="0A3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118872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3D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On-Prem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47288" y="1536192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On-Premises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47288" y="1883664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VM or Kubernetes / OCP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47288" y="2176272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24942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x86 VM or OpenShift deploy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47288" y="2688336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Air-gap &amp; data sovereignty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47288" y="3127248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v3.0 on-prem GA release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47288" y="3566160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IBM Z &amp; Power roadmap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99048" y="1060704"/>
            <a:ext cx="2633472" cy="292608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9048" y="1060704"/>
            <a:ext cx="2633472" cy="64008"/>
          </a:xfrm>
          <a:prstGeom prst="rect">
            <a:avLst/>
          </a:prstGeom>
          <a:solidFill>
            <a:srgbClr val="0F4FC8"/>
          </a:solidFill>
          <a:ln w="12700">
            <a:solidFill>
              <a:srgbClr val="0F4F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118872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4F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Hybrid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45352" y="1536192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Hybrid — Your Choice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45352" y="1883664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Flexibility to mix models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45352" y="2176272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224942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SaaS + on-prem co-exist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45352" y="2688336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Phased migration support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45352" y="3127248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Consistent UX across envs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45352" y="3566160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No rip-and-replace needed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 — Architecture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Started with IBM Concert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ways to explore the architecture and begin your journey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2633472" cy="2834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29844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Deep-Dive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" y="2322576"/>
            <a:ext cx="2340864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414016"/>
            <a:ext cx="234086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a technical architecture workshop with IBM experts. Walk through every layer and integration pattern for your environment.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" y="341985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Hong Kong Sales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00984" y="1133856"/>
            <a:ext cx="2633472" cy="2834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29844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47288" y="1828800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Your Free Trial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47288" y="2322576"/>
            <a:ext cx="2340864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2414016"/>
            <a:ext cx="234086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30-day, fully provisioned SaaS experience. Explore the full platform with sample data or connect your own environment.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47288" y="341985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ibm.com/concert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9048" y="1133856"/>
            <a:ext cx="2633472" cy="2834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29844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45352" y="1828800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Proof of Concept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5352" y="2322576"/>
            <a:ext cx="2340864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2414016"/>
            <a:ext cx="234086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team will design and run a targeted PoC on your hybrid environment — measuring real outcomes against your use cases.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45352" y="341985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 an appointment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 — Architecture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2026-08-11T08:03:54Z</dcterms:created>
  <dcterms:modified xsi:type="dcterms:W3CDTF">2026-08-11T08:03:54Z</dcterms:modified>
</cp:coreProperties>
</file>